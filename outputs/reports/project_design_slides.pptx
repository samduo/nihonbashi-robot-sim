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C1_hero_energy_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40130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401302"/>
            <a:ext cx="12191695" cy="1456697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5584182"/>
            <a:ext cx="1463040" cy="45720"/>
          </a:xfrm>
          <a:prstGeom prst="rect">
            <a:avLst/>
          </a:prstGeom>
          <a:solidFill>
            <a:srgbClr val="3B7A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730486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spc="120">
                <a:solidFill>
                  <a:srgbClr val="7FB897"/>
                </a:solidFill>
                <a:latin typeface="Aptos Display"/>
              </a:rPr>
              <a:t>日本橋エネルギーツイン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23094"/>
            <a:ext cx="1054577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From Georeferenced Digital Twin to Omniverse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51687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D6DBE0"/>
                </a:solidFill>
                <a:latin typeface="Aptos Display"/>
              </a:rPr>
              <a:t>Sam Duong  ·  Advisor: Dr. Perry Yang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02336"/>
            <a:ext cx="1054577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700" b="1">
                <a:solidFill>
                  <a:srgbClr val="003057"/>
                </a:solidFill>
                <a:latin typeface="Aptos Display"/>
              </a:rPr>
              <a:t>The question</a:t>
            </a:r>
            <a:r>
              <a:rPr sz="1900" b="0">
                <a:solidFill>
                  <a:srgbClr val="003057"/>
                </a:solidFill>
                <a:latin typeface="Aptos Display"/>
              </a:rPr>
              <a:t>    問い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96696"/>
            <a:ext cx="1828800" cy="45720"/>
          </a:xfrm>
          <a:prstGeom prst="rect">
            <a:avLst/>
          </a:prstGeom>
          <a:solidFill>
            <a:srgbClr val="3B7A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91056"/>
            <a:ext cx="10545775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2600" b="1">
                <a:solidFill>
                  <a:srgbClr val="003057"/>
                </a:solidFill>
                <a:latin typeface="Aptos Display"/>
              </a:rPr>
              <a:t>Does per-building energy use intensity, with ping-derived occupancy, materially change the cost-optimal PV and battery sizing for a Nihonbashi block?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803904"/>
            <a:ext cx="10545775" cy="13716"/>
          </a:xfrm>
          <a:prstGeom prst="rect">
            <a:avLst/>
          </a:prstGeom>
          <a:solidFill>
            <a:srgbClr val="D6DB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42816"/>
            <a:ext cx="227068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6200" b="1" spc="-150">
                <a:solidFill>
                  <a:srgbClr val="003057"/>
                </a:solidFill>
                <a:latin typeface="Aptos Display"/>
              </a:rPr>
              <a:t>10%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431536"/>
            <a:ext cx="227068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6B7680"/>
                </a:solidFill>
                <a:latin typeface="Aptos Display"/>
              </a:rPr>
              <a:t>PV capacity change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4811" y="4315968"/>
            <a:ext cx="10972" cy="1389888"/>
          </a:xfrm>
          <a:prstGeom prst="rect">
            <a:avLst/>
          </a:prstGeom>
          <a:solidFill>
            <a:srgbClr val="D6DB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59403" y="4242816"/>
            <a:ext cx="227068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6200" b="1" spc="-150">
                <a:solidFill>
                  <a:srgbClr val="003057"/>
                </a:solidFill>
                <a:latin typeface="Aptos Display"/>
              </a:rPr>
              <a:t>10%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59403" y="5431536"/>
            <a:ext cx="227068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6B7680"/>
                </a:solidFill>
                <a:latin typeface="Aptos Display"/>
              </a:rPr>
              <a:t>storage energy change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31255" y="4315968"/>
            <a:ext cx="10972" cy="1389888"/>
          </a:xfrm>
          <a:prstGeom prst="rect">
            <a:avLst/>
          </a:prstGeom>
          <a:solidFill>
            <a:srgbClr val="D6DB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5847" y="4242816"/>
            <a:ext cx="227068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6200" b="1" spc="-150">
                <a:solidFill>
                  <a:srgbClr val="003057"/>
                </a:solidFill>
                <a:latin typeface="Aptos Display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5847" y="5431536"/>
            <a:ext cx="227068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6B7680"/>
                </a:solidFill>
                <a:latin typeface="Aptos Display"/>
              </a:rPr>
              <a:t>buildings change rank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67699" y="4315968"/>
            <a:ext cx="10972" cy="1389888"/>
          </a:xfrm>
          <a:prstGeom prst="rect">
            <a:avLst/>
          </a:prstGeom>
          <a:solidFill>
            <a:srgbClr val="D6DB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32291" y="4242816"/>
            <a:ext cx="227068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6200" b="1" spc="-150">
                <a:solidFill>
                  <a:srgbClr val="003057"/>
                </a:solidFill>
                <a:latin typeface="Aptos Display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291" y="5431536"/>
            <a:ext cx="227068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6B7680"/>
                </a:solidFill>
                <a:latin typeface="Aptos Display"/>
              </a:rPr>
              <a:t>top-5 members change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0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spc="220">
                <a:solidFill>
                  <a:srgbClr val="7FB897"/>
                </a:solidFill>
                <a:latin typeface="Aptos Display"/>
              </a:rPr>
              <a:t>THE PRO-RATA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45775" cy="2651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500" b="1" spc="-200">
                <a:solidFill>
                  <a:srgbClr val="FFFFFF"/>
                </a:solidFill>
                <a:latin typeface="Aptos Display"/>
              </a:rPr>
              <a:t>49.93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800600"/>
            <a:ext cx="1828800" cy="50292"/>
          </a:xfrm>
          <a:prstGeom prst="rect">
            <a:avLst/>
          </a:prstGeom>
          <a:solidFill>
            <a:srgbClr val="3B7A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138928"/>
            <a:ext cx="963137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>
                <a:solidFill>
                  <a:srgbClr val="D6DBE0"/>
                </a:solidFill>
                <a:latin typeface="Aptos Display"/>
              </a:rPr>
              <a:t>every building, identical intensity  ·  kWh/m²/yr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0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spc="220">
                <a:solidFill>
                  <a:srgbClr val="7FB897"/>
                </a:solidFill>
                <a:latin typeface="Aptos Display"/>
              </a:rPr>
              <a:t>RANK DISPLACEMENT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45775" cy="2651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0" b="1" spc="-200">
                <a:solidFill>
                  <a:srgbClr val="FFFFFF"/>
                </a:solidFill>
                <a:latin typeface="Aptos Display"/>
              </a:rPr>
              <a:t>14 of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800600"/>
            <a:ext cx="1828800" cy="50292"/>
          </a:xfrm>
          <a:prstGeom prst="rect">
            <a:avLst/>
          </a:prstGeom>
          <a:solidFill>
            <a:srgbClr val="3B7A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138928"/>
            <a:ext cx="963137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>
                <a:solidFill>
                  <a:srgbClr val="D6DBE0"/>
                </a:solidFill>
                <a:latin typeface="Aptos Display"/>
              </a:rPr>
              <a:t>buildings change rank under corrected intensities  ·  ρ = 0.897 &lt; 0.9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02336"/>
            <a:ext cx="1054577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700" b="1">
                <a:solidFill>
                  <a:srgbClr val="003057"/>
                </a:solidFill>
                <a:latin typeface="Aptos Display"/>
              </a:rPr>
              <a:t>Context changed, not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96696"/>
            <a:ext cx="1828800" cy="45720"/>
          </a:xfrm>
          <a:prstGeom prst="rect">
            <a:avLst/>
          </a:prstGeom>
          <a:solidFill>
            <a:srgbClr val="3B7A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C0_evolution_before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67976"/>
            <a:ext cx="12191695" cy="32010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02336"/>
            <a:ext cx="1054577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700" b="1">
                <a:solidFill>
                  <a:srgbClr val="003057"/>
                </a:solidFill>
                <a:latin typeface="Aptos Display"/>
              </a:rPr>
              <a:t>Building energy use intensity by scenario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96696"/>
            <a:ext cx="1828800" cy="45720"/>
          </a:xfrm>
          <a:prstGeom prst="rect">
            <a:avLst/>
          </a:prstGeom>
          <a:solidFill>
            <a:srgbClr val="3B7A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F1_building_energy_intensity.png"/>
          <p:cNvPicPr>
            <a:picLocks noChangeAspect="1"/>
          </p:cNvPicPr>
          <p:nvPr/>
        </p:nvPicPr>
        <p:blipFill>
          <a:blip r:embed="rId2"/>
          <a:srcRect t="5476"/>
          <a:stretch>
            <a:fillRect/>
          </a:stretch>
        </p:blipFill>
        <p:spPr>
          <a:xfrm>
            <a:off x="2420277" y="1280160"/>
            <a:ext cx="7351140" cy="53400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02336"/>
            <a:ext cx="1054577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700" b="1">
                <a:solidFill>
                  <a:srgbClr val="003057"/>
                </a:solidFill>
                <a:latin typeface="Aptos Display"/>
              </a:rPr>
              <a:t>Annual saving under S2 by building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96696"/>
            <a:ext cx="1828800" cy="45720"/>
          </a:xfrm>
          <a:prstGeom prst="rect">
            <a:avLst/>
          </a:prstGeom>
          <a:solidFill>
            <a:srgbClr val="3B7A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F2_retrofit_priority_s2.png"/>
          <p:cNvPicPr>
            <a:picLocks noChangeAspect="1"/>
          </p:cNvPicPr>
          <p:nvPr/>
        </p:nvPicPr>
        <p:blipFill>
          <a:blip r:embed="rId2"/>
          <a:srcRect t="5770"/>
          <a:stretch>
            <a:fillRect/>
          </a:stretch>
        </p:blipFill>
        <p:spPr>
          <a:xfrm>
            <a:off x="3325825" y="1280160"/>
            <a:ext cx="5540043" cy="47365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089904"/>
            <a:ext cx="10545775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700" b="0">
                <a:solidFill>
                  <a:srgbClr val="1E2A33"/>
                </a:solidFill>
                <a:latin typeface="Aptos Display"/>
              </a:rPr>
              <a:t>Largest absolute savers: 4050, 3042, 3554, 3562, 4571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02336"/>
            <a:ext cx="1054577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700" b="1">
                <a:solidFill>
                  <a:srgbClr val="003057"/>
                </a:solidFill>
                <a:latin typeface="Aptos Display"/>
              </a:rPr>
              <a:t>District electricity: composition and seasonality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96696"/>
            <a:ext cx="1828800" cy="45720"/>
          </a:xfrm>
          <a:prstGeom prst="rect">
            <a:avLst/>
          </a:prstGeom>
          <a:solidFill>
            <a:srgbClr val="3B7A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F3_load_composition_season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6994" y="1280160"/>
            <a:ext cx="9277705" cy="47365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089904"/>
            <a:ext cx="20116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4000" b="1" spc="-100">
                <a:solidFill>
                  <a:srgbClr val="3B7A57"/>
                </a:solidFill>
                <a:latin typeface="Aptos Display"/>
              </a:rPr>
              <a:t>48.1%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79" y="6089904"/>
            <a:ext cx="8442655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700" b="0">
                <a:solidFill>
                  <a:srgbClr val="1E2A33"/>
                </a:solidFill>
                <a:latin typeface="Aptos Display"/>
              </a:rPr>
              <a:t>of the district total is vehicle charging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3_inspector_b4050_s1_energy.png"/>
          <p:cNvPicPr>
            <a:picLocks noChangeAspect="1"/>
          </p:cNvPicPr>
          <p:nvPr/>
        </p:nvPicPr>
        <p:blipFill>
          <a:blip r:embed="rId2"/>
          <a:srcRect t="488" b="488"/>
          <a:stretch>
            <a:fillRect/>
          </a:stretch>
        </p:blipFill>
        <p:spPr>
          <a:xfrm>
            <a:off x="0" y="1818512"/>
            <a:ext cx="5967831" cy="261747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4710303"/>
            <a:ext cx="546491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003057"/>
                </a:solidFill>
                <a:latin typeface="Aptos Display"/>
              </a:rPr>
              <a:t>Per-building record</a:t>
            </a:r>
          </a:p>
        </p:txBody>
      </p:sp>
      <p:pic>
        <p:nvPicPr>
          <p:cNvPr id="4" name="Picture 3" descr="C6_occupancy_agents_inspector_b3037.png"/>
          <p:cNvPicPr>
            <a:picLocks noChangeAspect="1"/>
          </p:cNvPicPr>
          <p:nvPr/>
        </p:nvPicPr>
        <p:blipFill>
          <a:blip r:embed="rId3"/>
          <a:srcRect l="458" r="458"/>
          <a:stretch>
            <a:fillRect/>
          </a:stretch>
        </p:blipFill>
        <p:spPr>
          <a:xfrm>
            <a:off x="6223863" y="1818512"/>
            <a:ext cx="5967831" cy="26174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26783" y="4710303"/>
            <a:ext cx="546491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003057"/>
                </a:solidFill>
                <a:latin typeface="Aptos Display"/>
              </a:rPr>
              <a:t>Occupancy and agents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7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509725"/>
            <a:ext cx="11460175" cy="583854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02336"/>
            <a:ext cx="1054577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700" b="1">
                <a:solidFill>
                  <a:srgbClr val="003057"/>
                </a:solidFill>
                <a:latin typeface="Aptos Display"/>
              </a:rPr>
              <a:t>The fidelity ladder</a:t>
            </a:r>
            <a:r>
              <a:rPr sz="1900" b="0">
                <a:solidFill>
                  <a:srgbClr val="003057"/>
                </a:solidFill>
                <a:latin typeface="Aptos Display"/>
              </a:rPr>
              <a:t>    忠実度の階層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96696"/>
            <a:ext cx="1828800" cy="45720"/>
          </a:xfrm>
          <a:prstGeom prst="rect">
            <a:avLst/>
          </a:prstGeom>
          <a:solidFill>
            <a:srgbClr val="3B7A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56816" y="2084831"/>
            <a:ext cx="9411919" cy="896112"/>
          </a:xfrm>
          <a:prstGeom prst="rect">
            <a:avLst/>
          </a:prstGeom>
          <a:noFill/>
          <a:ln w="19050">
            <a:solidFill>
              <a:srgbClr val="6B768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22576" y="2084831"/>
            <a:ext cx="822960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200" b="1">
                <a:solidFill>
                  <a:srgbClr val="6B7680"/>
                </a:solidFill>
                <a:latin typeface="Aptos Display"/>
              </a:rPr>
              <a:t>L3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91256" y="2084831"/>
            <a:ext cx="7811719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100" b="0">
                <a:solidFill>
                  <a:srgbClr val="6B7680"/>
                </a:solidFill>
                <a:latin typeface="Aptos Display"/>
              </a:rPr>
              <a:t>Simulation twin</a:t>
            </a:r>
          </a:p>
        </p:txBody>
      </p:sp>
      <p:sp>
        <p:nvSpPr>
          <p:cNvPr id="7" name="Rectangle 6"/>
          <p:cNvSpPr/>
          <p:nvPr/>
        </p:nvSpPr>
        <p:spPr>
          <a:xfrm>
            <a:off x="1389888" y="3255263"/>
            <a:ext cx="9978847" cy="896112"/>
          </a:xfrm>
          <a:prstGeom prst="rect">
            <a:avLst/>
          </a:prstGeom>
          <a:noFill/>
          <a:ln w="19050">
            <a:solidFill>
              <a:srgbClr val="00305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89888" y="3255263"/>
            <a:ext cx="91440" cy="896112"/>
          </a:xfrm>
          <a:prstGeom prst="rect">
            <a:avLst/>
          </a:prstGeom>
          <a:solidFill>
            <a:srgbClr val="0030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55648" y="3255263"/>
            <a:ext cx="822960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200" b="1">
                <a:solidFill>
                  <a:srgbClr val="3B7A57"/>
                </a:solidFill>
                <a:latin typeface="Aptos Display"/>
              </a:rPr>
              <a:t>L2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4328" y="3255263"/>
            <a:ext cx="8378647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100" b="1">
                <a:solidFill>
                  <a:srgbClr val="003057"/>
                </a:solidFill>
                <a:latin typeface="Aptos Display"/>
              </a:rPr>
              <a:t>Web digital twin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425696"/>
            <a:ext cx="10545775" cy="896112"/>
          </a:xfrm>
          <a:prstGeom prst="rect">
            <a:avLst/>
          </a:prstGeom>
          <a:noFill/>
          <a:ln w="19050">
            <a:solidFill>
              <a:srgbClr val="00305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425696"/>
            <a:ext cx="91440" cy="896112"/>
          </a:xfrm>
          <a:prstGeom prst="rect">
            <a:avLst/>
          </a:prstGeom>
          <a:solidFill>
            <a:srgbClr val="0030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425696"/>
            <a:ext cx="822960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200" b="1">
                <a:solidFill>
                  <a:srgbClr val="3B7A57"/>
                </a:solidFill>
                <a:latin typeface="Aptos Display"/>
              </a:rPr>
              <a:t>L1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4425696"/>
            <a:ext cx="8945575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100" b="1">
                <a:solidFill>
                  <a:srgbClr val="003057"/>
                </a:solidFill>
                <a:latin typeface="Aptos Display"/>
              </a:rPr>
              <a:t>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961888"/>
            <a:ext cx="105457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>
                <a:solidFill>
                  <a:srgbClr val="1E2A33"/>
                </a:solidFill>
                <a:latin typeface="Aptos Display"/>
              </a:rPr>
              <a:t>Hypothesis: D-1 settles at L1 or L2, D-2 settles at L2, and only D-3 requires L3.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0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21408"/>
            <a:ext cx="9814255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</a:pPr>
            <a:r>
              <a:rPr sz="3400" b="1">
                <a:solidFill>
                  <a:srgbClr val="FFFFFF"/>
                </a:solidFill>
                <a:latin typeface="Aptos Display"/>
              </a:rPr>
              <a:t>At which fidelity tier does the answer to a given urban energy decision stop changing?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224528"/>
            <a:ext cx="1828800" cy="50292"/>
          </a:xfrm>
          <a:prstGeom prst="rect">
            <a:avLst/>
          </a:prstGeom>
          <a:solidFill>
            <a:srgbClr val="3B7A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90288"/>
            <a:ext cx="10545775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spc="150">
                <a:solidFill>
                  <a:srgbClr val="7FB897"/>
                </a:solidFill>
                <a:latin typeface="Aptos Display"/>
              </a:rPr>
              <a:t>CUPUM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38928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D6DBE0"/>
                </a:solidFill>
                <a:latin typeface="Aptos Display"/>
              </a:rPr>
              <a:t>github.com/SamDuo/nihonbashi-robot-sim  ·  demo: outputs/energy_cesium_view.html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