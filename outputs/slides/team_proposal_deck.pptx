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Aptos"/>
              </a:rPr>
              <a:t>Smart City Service Robots under Extreme Climate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Aptos"/>
              </a:rPr>
              <a:t>Team proposal -- full six-stage research methodology covering baseline ABM, concept design, A/B simulation, AI-assisted CAD optimization, ABM re-validation, and browser-deliverable digital twin. Nihonbashi, Tokyo case study.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74552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Cross-scale industrial-design framework combining ABM / Digital Twin and Industrial Design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Research scenario: Nihonbashi, Tokyo  --  200 m hero scene inside 500 m station catchment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Keywords: Extreme Climate · Aging Society · Human Heat Exposure · Urban Delivery · Emergency Services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Authors: Sam M. Duong  ·  Xilin Tang  ·  Yi Tai  ·  </a:t>
            </a:r>
            <a:r>
              <a:rPr sz="1200" dirty="0" err="1">
                <a:solidFill>
                  <a:srgbClr val="101010"/>
                </a:solidFill>
                <a:latin typeface="Aptos"/>
              </a:rPr>
              <a:t>Qinghao</a:t>
            </a:r>
            <a:r>
              <a:rPr sz="1200" dirty="0">
                <a:solidFill>
                  <a:srgbClr val="101010"/>
                </a:solidFill>
                <a:latin typeface="Aptos"/>
              </a:rPr>
              <a:t>  ·  Advisor: </a:t>
            </a:r>
            <a:r>
              <a:rPr lang="en-US" sz="1200" dirty="0">
                <a:solidFill>
                  <a:srgbClr val="101010"/>
                </a:solidFill>
                <a:latin typeface="Aptos"/>
              </a:rPr>
              <a:t>Perry Yang</a:t>
            </a:r>
            <a:endParaRPr sz="1200" dirty="0">
              <a:solidFill>
                <a:srgbClr val="10101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Repository: github.com/</a:t>
            </a:r>
            <a:r>
              <a:rPr sz="1200" dirty="0" err="1">
                <a:solidFill>
                  <a:srgbClr val="101010"/>
                </a:solidFill>
                <a:latin typeface="Aptos"/>
              </a:rPr>
              <a:t>SamDuo</a:t>
            </a:r>
            <a:r>
              <a:rPr sz="1200" dirty="0">
                <a:solidFill>
                  <a:srgbClr val="101010"/>
                </a:solidFill>
                <a:latin typeface="Aptos"/>
              </a:rPr>
              <a:t>/</a:t>
            </a:r>
            <a:r>
              <a:rPr sz="1200" dirty="0" err="1">
                <a:solidFill>
                  <a:srgbClr val="101010"/>
                </a:solidFill>
                <a:latin typeface="Aptos"/>
              </a:rPr>
              <a:t>nihonbashi</a:t>
            </a:r>
            <a:r>
              <a:rPr sz="1200" dirty="0">
                <a:solidFill>
                  <a:srgbClr val="101010"/>
                </a:solidFill>
                <a:latin typeface="Aptos"/>
              </a:rPr>
              <a:t>-robot-sim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Proposal 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1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Based on Xilin Tang's six-stage research methodology document.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Aptos"/>
              </a:rPr>
              <a:t>Run the complete six-stage methodology end to end -- from baseline ABM through high-fidelity browser-deliverable twin -- using only tools and compute the team has access to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11274552" cy="17543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Phase 1  --  Baseline ABM of an existing Starship-type robot in the Nihonbashi scene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Phase 2  --  Heat-Support Robot concept + variable matrix translating friction points into design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Phase 3  --  A/B SUMO + ABM simulation with iterative feedback against the baseline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Phase 4  --  AI + CAD optimization in Rhino / Grasshopper, Fusion 360 engineering pass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Phase 5  --  ABM re-simulation at scale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Phase 6  --  Browser-deliverable 3D twin + geometric sensor / motion validation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Stretch  --  NVIDIA Isaac Sim</a:t>
            </a:r>
            <a:r>
              <a:rPr lang="en-US" sz="1200" dirty="0">
                <a:solidFill>
                  <a:srgbClr val="101010"/>
                </a:solidFill>
                <a:latin typeface="Aptos"/>
              </a:rPr>
              <a:t> &amp; Omniverse </a:t>
            </a:r>
            <a:r>
              <a:rPr sz="1200" dirty="0">
                <a:solidFill>
                  <a:srgbClr val="101010"/>
                </a:solidFill>
                <a:latin typeface="Aptos"/>
              </a:rPr>
              <a:t>IF dedicated RTX hardware materializes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2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Architecture aligned to IAC-VLABB-2021 capacity + GT-licensed software stack.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Aptos"/>
              </a:rPr>
              <a:t>The Compound Problem  --  Extreme Climate x Aging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Aptos"/>
              </a:rPr>
              <a:t>Tokyo's compound risk  --  extreme heat compounded by an aging population  --  is increasing faster than passive infrastructure (cooling shelters, ambulance dispatch) can adapt.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1127455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Heat-island effect intensified by high humidity and dense construction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Outdoor workers and elderly residents bear disproportionate heat-exposure burden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Fixed cooling shelters cover only fragments of Nihonbashi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Service robots are the most direct lightweight intervention -- mobile, modular, dispatchable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Existing designs (Starship-type) have not been tested against Nihonbashi-specific scenarios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Without a reproducible test bed, design decisions are anecdotal -- not evidence-based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3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Source: Xilin Tang slides 2-3; methodology PDF Phase One rationale.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Aptos"/>
              </a:rP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35753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01010"/>
                </a:solidFill>
                <a:latin typeface="Aptos"/>
              </a:rPr>
              <a:t>RQ1  --  Phases 1-3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2377440"/>
            <a:ext cx="1787652" cy="0"/>
          </a:xfrm>
          <a:prstGeom prst="line">
            <a:avLst/>
          </a:prstGeom>
          <a:ln w="317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2468880"/>
            <a:ext cx="3575304" cy="20672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dirty="0">
                <a:solidFill>
                  <a:srgbClr val="101010"/>
                </a:solidFill>
                <a:latin typeface="Aptos"/>
              </a:rPr>
              <a:t>•  Can a Nihonbashi-specific service robot reduce human heat exposure during extreme heat without making sidewalks worse for pedestrians?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sz="1100" dirty="0">
                <a:solidFill>
                  <a:srgbClr val="101010"/>
                </a:solidFill>
                <a:latin typeface="Aptos"/>
              </a:rPr>
              <a:t>Build a baseline ABM of a Starship-type robot in the catchment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sz="1100" dirty="0">
                <a:solidFill>
                  <a:srgbClr val="101010"/>
                </a:solidFill>
                <a:latin typeface="Aptos"/>
              </a:rPr>
              <a:t>Identify macroscopic friction points (detours, docking, speed mismatches)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sz="1100" dirty="0">
                <a:solidFill>
                  <a:srgbClr val="101010"/>
                </a:solidFill>
                <a:latin typeface="Aptos"/>
              </a:rPr>
              <a:t>Translate frictions into the Heat-Support Robot concept </a:t>
            </a:r>
            <a:r>
              <a:rPr lang="en-US" sz="1100" dirty="0">
                <a:solidFill>
                  <a:srgbClr val="101010"/>
                </a:solidFill>
                <a:latin typeface="Aptos"/>
              </a:rPr>
              <a:t>&amp; </a:t>
            </a:r>
            <a:r>
              <a:rPr sz="1100" dirty="0">
                <a:solidFill>
                  <a:srgbClr val="101010"/>
                </a:solidFill>
                <a:latin typeface="Aptos"/>
              </a:rPr>
              <a:t> variable matrix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sz="1100" dirty="0">
                <a:solidFill>
                  <a:srgbClr val="101010"/>
                </a:solidFill>
                <a:latin typeface="Aptos"/>
              </a:rPr>
              <a:t> Run A/B simulation; iterate until Pareto-non-dominated on six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6824" y="2057400"/>
            <a:ext cx="35753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01010"/>
                </a:solidFill>
                <a:latin typeface="Aptos"/>
              </a:rPr>
              <a:t>RQ2  --  Phases 4-5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06824" y="2377440"/>
            <a:ext cx="1787652" cy="0"/>
          </a:xfrm>
          <a:prstGeom prst="line">
            <a:avLst/>
          </a:prstGeom>
          <a:ln w="317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06824" y="2468880"/>
            <a:ext cx="3575304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Do the simulation gains hold up once the robot is designed as a real, manufacturable thing?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Convert the variable matrix into a parametric Rhino + Fusion 360 CAD model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Re-abstract CAD geometry into ABM parameters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Re-run A/B at scale on the VLAB server (200+ replicates per scenario)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Verify gains with statistical significance on &gt;= 4 of 6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057400"/>
            <a:ext cx="35753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01010"/>
                </a:solidFill>
                <a:latin typeface="Aptos"/>
              </a:rPr>
              <a:t>RQ3  --  Phase 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56448" y="2377440"/>
            <a:ext cx="1787652" cy="0"/>
          </a:xfrm>
          <a:prstGeom prst="line">
            <a:avLst/>
          </a:prstGeom>
          <a:ln w="317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56448" y="2468880"/>
            <a:ext cx="3575304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Can we show all of this in a browser-based 3D twin that planners and residents actually understand?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Assemble the 500 m catchment as a 3D scene in ArcGIS Urban or CesiumJS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Overlay heat-cost field, robot trajectories, vulnerable population, service nodes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Validate sensor coverage + motion geometrically in Mesa with Shapely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Demo to stakeholders; collect structured feedback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Research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4 / 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Source: team RQ framing 2026-05-19.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Aptos"/>
              </a:rPr>
              <a:t>Six-Stage Research Methodology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112745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Phase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Name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Primary task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Baseline ABM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Abstract a Starship-type robot into ABM; surface macroscopic friction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Product concept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Translate friction points into Heat-Support Robot concept + variable matrix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Initial A/B 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SUMO + ABM comparison of baseline vs. proposal; iterate the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AI + CAD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Convert ABM output into manufacturable CAD model (Rhino + Fusion 360)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ABM re-simulation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Verify macroscopic gains hold under CAD-derived parameters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High-fidelity digital twin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Browser-deliverable 3D scene + geometric sensor / motion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5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Source: methodology PDF Section 7; Xilin slide 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Aptos"/>
              </a:rPr>
              <a:t>Spatial Scope  --  Nested Scales for Three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Aptos"/>
              </a:rPr>
              <a:t>Mobility, resilience, and robot service each have a natural scale. We use three nested rings so each system is observed where its dynamics actually occur.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1127455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Ring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Size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System captured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Inner  --  hero scene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~200 m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Visualization 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Photo-quality renders + close-ups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Middle  --  service catchment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~500 m around station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Mobility OD + resilience integral + robot routes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ABM agent simulation + Pareto comparison (Phases 1, 3, 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Outer  --  district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Full Nihonbashi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Policy + stakeholder framing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ArcGIS dashboard + 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48056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 Three systems intersect at the station-catchment scale  --  not the street segment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 Inner 200 m is a focal sample of the catchment, not the operational boundary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 Candidate catchments: Nihonbashi Station or Mitsukoshi-mae Station (Tokyo Metro)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 ABM compute at the catchment scale is trivially fast on the IAC-VLABB-2021 server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Spatial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6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Source: team review of system-boundary question.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Aptos"/>
              </a:rPr>
              <a:t>Phase 1  --  Starship Baseline ABM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Aptos"/>
              </a:rPr>
              <a:t>Abstract an existing sidewalk delivery robot into ABM-readable parameters. Drop it into the Nihonbashi catchment. Surface macroscopic friction points that motivate the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550011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01010"/>
                </a:solidFill>
                <a:latin typeface="Aptos"/>
              </a:rPr>
              <a:t>Starship parameters (abstracted)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2377440"/>
            <a:ext cx="2750058" cy="0"/>
          </a:xfrm>
          <a:prstGeom prst="line">
            <a:avLst/>
          </a:prstGeom>
          <a:ln w="317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2468880"/>
            <a:ext cx="5500116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Body 569 x 697 x 616 mm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Max speed 6 km/h (METI 2023 cap)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Turning radius ~ 0.8 m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Payload 10 kg, docking 30 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Reactive avoidance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1636" y="2057400"/>
            <a:ext cx="550011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01010"/>
                </a:solidFill>
                <a:latin typeface="Aptos"/>
              </a:rPr>
              <a:t>Friction points we will observe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31636" y="2377440"/>
            <a:ext cx="2750058" cy="0"/>
          </a:xfrm>
          <a:prstGeom prst="line">
            <a:avLst/>
          </a:prstGeom>
          <a:ln w="317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31636" y="2468880"/>
            <a:ext cx="5500116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Pedestrian detours from docking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Mainline / robot trajectory intersections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Docking conflicts at service nodes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Speed mismatches with crowd flow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Task delays under heat conditions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Heat-exposure overlap (shade vs. heat island)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7 / 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Source: methodology PDF Phase One; Xilin slide 9.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Aptos"/>
              </a:rPr>
              <a:t>Heat-Cost Field  --  GIS Bridge from Phase 1-3 Classifier into ABM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Aptos"/>
              </a:rPr>
              <a:t>The Random Forest heat-scenario classifier from the parent Tokyo Studio repo joins the OSM sidewalk graph and becomes a scalar field consumed by every agent in the ABM.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1127455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Per-parcel heat-scenario label (Low / Moderate / High / Extreme) from the Tokyo Studio RF classifier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Spatial join to OSM sidewalk segments by centroid intersection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Compute heat_cost = base_cost x (1 + heat_factor)  with factor in {0.0, 0.5, 1.0, 1.5}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Write to ABM as an edge attribute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Pedestrian agents use heat_cost in route choice (weighted Dijkstra)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Robot uses heat_cost for service-path optimization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Per-agent heat_exposure accumulator integrates heat_cost x dwell_time along trajectory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Script: scripts/build_heat_cost_field.py  --  Sam owns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Phase 1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8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Source: docs/phase1_baseline.md and parent Tokyo Studio repo.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Aptos"/>
              </a:rPr>
              <a:t>Phase 2  --  Heat-Support Robot Concept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Aptos"/>
              </a:rPr>
              <a:t>Transform Phase 1 friction points into a design hypothesis: a modular autonomous service robot purpose-built for extreme-heat support in dense Nihonbashi-type districts.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35753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01010"/>
                </a:solidFill>
                <a:latin typeface="Aptos"/>
              </a:rPr>
              <a:t>Body + mobility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2377440"/>
            <a:ext cx="1787652" cy="0"/>
          </a:xfrm>
          <a:prstGeom prst="line">
            <a:avLst/>
          </a:prstGeom>
          <a:ln w="317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2468880"/>
            <a:ext cx="3575304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Body ~ 680 x 980 x 1050 mm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Heat-resilient electronics 40 C+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Speed throttled in dense windows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Tighter turning radius (~ 0.6 m)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Lift-off docking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6824" y="2057400"/>
            <a:ext cx="35753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01010"/>
                </a:solidFill>
                <a:latin typeface="Aptos"/>
              </a:rPr>
              <a:t>Service modules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06824" y="2377440"/>
            <a:ext cx="1787652" cy="0"/>
          </a:xfrm>
          <a:prstGeom prst="line">
            <a:avLst/>
          </a:prstGeom>
          <a:ln w="317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06824" y="2468880"/>
            <a:ext cx="3575304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Cold water + supply delivery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Medicine + first-aid kit drop-off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Heatstroke response kit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Information / wayfinding for elderly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Modular cargo bays, swap &lt; 60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057400"/>
            <a:ext cx="35753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01010"/>
                </a:solidFill>
                <a:latin typeface="Aptos"/>
              </a:rPr>
              <a:t>Interaction cues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56448" y="2377440"/>
            <a:ext cx="1787652" cy="0"/>
          </a:xfrm>
          <a:prstGeom prst="line">
            <a:avLst/>
          </a:prstGeom>
          <a:ln w="317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56448" y="2468880"/>
            <a:ext cx="3575304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Directional intent-light strip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Top-mounted status screen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Soft chime on docking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Slow-for-crowd motion rhythm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Vulnerable-pop detection mode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9 / 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Source: methodology PDF Phase Two; Xilin slide 11.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Aptos"/>
              </a:rPr>
              <a:t>Phase 3  --  Initial A/B Simulation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Aptos"/>
              </a:rPr>
              <a:t>Drop the Heat-Support Robot proposal into the same Nihonbashi scene as the Starship baseline. Same scenarios, same windows, same RNG seeds. Paired statistics.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11274552" cy="14927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Scene: 500 m station catchment (with 200 m hero zone)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Scenarios: 4 heat scenarios (cool / moderate / high / extreme) x 3 traffic windows (morning peak / midday / afternoon heat)  =  12 combinations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Replicates: 50+ paired per combination per side, with matched RNG seeds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Side A: Starship baseline parameters     Side B: Heat-Support Robot v1 parameters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Statistical analysis: paired t-test or Wilcoxon, Holm-Bonferroni correction across six metrics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Output: outputs/reports/phase3_comparison.md and ranked residual-issue list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Phase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11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Source: methodology PDF Phase Three; docs/phase3_simulation.md.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Aptos"/>
              </a:rPr>
              <a:t>Six Evaluation Metrics  --  Pareto, Not Weighted Sum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Aptos"/>
              </a:rPr>
              <a:t>Six independent metrics, scored per replicate. Pareto-non-dominated means: not worse than baseline on any metric AND strictly better on at least one. Preserves trade-offs instead of hiding them in a weighted score.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1127455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70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Definition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Labor Substitution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Fraction of outdoor delivery / patrol / resupply replaced by robots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Heat Exposure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Cumulative human-staff heat exposure reduction vs.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Service 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Service uptime during heat-scenario window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Delivery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Tasks completed per wall hour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Pedestrian Interference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Detour length + speed reduction + docking conflicts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Infrastructure Compatibility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Penalty for incompatible docking, charging, service-node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12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Source: Xilin slide 10; analysis/metrics.py.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Aptos"/>
              </a:rPr>
              <a:t>Phase 3 Iterative Feedback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Aptos"/>
              </a:rPr>
              <a:t>Phase 3 is the inner loop of the methodology. Diagnose residuals, update variables, re-run. Exit on convergence -- not on time budget.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1127455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Run side B (proposal) against side A (baseline) with paired seeds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Compute the six metrics for every replicate; paired-difference statistics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Designer (Xilin) reviews ranked residual-issue list with the team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Selectively update the proposal column of the variable matrix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Re-run side B with new parameters; side A stays anchored to Starship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Up to three iterations before escalating to Phase 4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Exit criteria: (a) Pareto-non-dominated with sig on &gt;= 4 of 6 metrics, OR (b) 3 iterations w/o significant improvement, OR (c) designer override with documented rationale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Hand-off: final variable column + residual issues  --&gt;  Phase 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Phase 3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13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Source: methodology PDF Phase Three; docs/methodology.md exit-criteria.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4277709" cy="3385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 dirty="0">
                <a:solidFill>
                  <a:srgbClr val="101010"/>
                </a:solidFill>
                <a:latin typeface="Aptos"/>
              </a:rPr>
              <a:t>Phase 4  --  AI </a:t>
            </a:r>
            <a:r>
              <a:rPr lang="en-US" sz="2200" b="1" dirty="0">
                <a:solidFill>
                  <a:srgbClr val="101010"/>
                </a:solidFill>
                <a:latin typeface="Aptos"/>
              </a:rPr>
              <a:t>&amp;</a:t>
            </a:r>
            <a:r>
              <a:rPr sz="2200" b="1" dirty="0">
                <a:solidFill>
                  <a:srgbClr val="101010"/>
                </a:solidFill>
                <a:latin typeface="Aptos"/>
              </a:rPr>
              <a:t> CAD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11274552" cy="14927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AI step  --  summarize friction points; propose form, module placement, docking strategy, sensor placement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Designer step (Xilin)  --  select, critique, integrate against Nihonbashi </a:t>
            </a:r>
            <a:r>
              <a:rPr lang="en-US" sz="1200" dirty="0">
                <a:solidFill>
                  <a:srgbClr val="101010"/>
                </a:solidFill>
                <a:latin typeface="Aptos"/>
              </a:rPr>
              <a:t>&amp; </a:t>
            </a:r>
            <a:r>
              <a:rPr sz="1200" dirty="0">
                <a:solidFill>
                  <a:srgbClr val="101010"/>
                </a:solidFill>
                <a:latin typeface="Aptos"/>
              </a:rPr>
              <a:t>METI 2023 sidewalk-robot rules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CAD step  --  Rhino + Grasshopper primary </a:t>
            </a:r>
            <a:r>
              <a:rPr lang="en-US" sz="1200" dirty="0">
                <a:solidFill>
                  <a:srgbClr val="101010"/>
                </a:solidFill>
                <a:latin typeface="Aptos"/>
              </a:rPr>
              <a:t>, </a:t>
            </a:r>
            <a:r>
              <a:rPr sz="1200" dirty="0">
                <a:solidFill>
                  <a:srgbClr val="101010"/>
                </a:solidFill>
                <a:latin typeface="Aptos"/>
              </a:rPr>
              <a:t>Fusion 360 (educational) for engineering pass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Round-trip mapping  --  every variable matrix row maps to a Rhino / Grasshopper parameter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Output  --  .3dm + .</a:t>
            </a:r>
            <a:r>
              <a:rPr sz="1200" dirty="0" err="1">
                <a:solidFill>
                  <a:srgbClr val="101010"/>
                </a:solidFill>
                <a:latin typeface="Aptos"/>
              </a:rPr>
              <a:t>stp</a:t>
            </a:r>
            <a:r>
              <a:rPr sz="1200" dirty="0">
                <a:solidFill>
                  <a:srgbClr val="101010"/>
                </a:solidFill>
                <a:latin typeface="Aptos"/>
              </a:rPr>
              <a:t> neutral export + .</a:t>
            </a:r>
            <a:r>
              <a:rPr sz="1200" dirty="0" err="1">
                <a:solidFill>
                  <a:srgbClr val="101010"/>
                </a:solidFill>
                <a:latin typeface="Aptos"/>
              </a:rPr>
              <a:t>gltf</a:t>
            </a:r>
            <a:r>
              <a:rPr sz="1200" dirty="0">
                <a:solidFill>
                  <a:srgbClr val="101010"/>
                </a:solidFill>
                <a:latin typeface="Aptos"/>
              </a:rPr>
              <a:t> for browser-side display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Acceptance  --  manufacturability review passes; every variable maps cleanly to a CAD parameter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Phase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14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Source: methodology PDF Phase Five.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014643" cy="3385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 dirty="0">
                <a:solidFill>
                  <a:srgbClr val="101010"/>
                </a:solidFill>
                <a:latin typeface="Aptos"/>
              </a:rPr>
              <a:t>Phase 5  --  ABM Re-simulation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Aptos"/>
              </a:rPr>
              <a:t>Re-run the A/B comparison with CAD-derived parameters. 72 logical CPUs + 768 GB RAM let us scale from 50 replicates per scenario to 200+, finishing in hours instead of days.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11274552" cy="17543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Re-abstract CAD-derived geometry into ABM parameters: width, length, speed, turning radius, docking duration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Three-tier comparison: Starship baseline (Phase 1) · Heat-Support v3 (Phase 3) · CAD-optimized (Phase 4)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Scale up: 200+ replicates per scenario across the full 500 m catchment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Parallelization: ~36 simultaneous Mesa workers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Same six metrics; alpha = 0.05, power &gt;= 0.8 thanks to the higher replicate count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Goal: confirm Pareto-non-dominance and statistical significance hold on &gt;= 4 of 6 metrics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101010"/>
                </a:solidFill>
                <a:latin typeface="Aptos"/>
              </a:rPr>
              <a:t>•   Output: outputs/reports/phase5_revalidation.md with three-way Pareto + parameter-sensitivity sweeps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Phase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15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Source: methodology PDF Phase Six (Part 1); IAC-VLABB-2021 compute confirmation.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Aptos"/>
              </a:rPr>
              <a:t>Phase 6.1  --  Browser-Deliverable 3D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Aptos"/>
              </a:rPr>
              <a:t>Deliver a 3D twin of the 500 m catchment that any stakeholder can open in a browser  --  no client GPU, no plugin, no install. Primary: ArcGIS Experience Builder. Alternative: CesiumJS web app.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1127455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PLATEAU LOD2 across the full catchment  --&gt;  USD / glTF tiles served from the VLAB server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Sidewalk + heat-cost field  --&gt;  ArcGIS feature service / Cesium 3D Tiles overlay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Animated robot trajectories  --  played back from Phase 5 simulation traces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Pedestrian density heatmap  --  per-scenario, time-animated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Toggleable layers: heat scenario, robot fleet, vulnerable population, service nodes, friction-point overlays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Primary: ArcGIS Urban scene  --&gt;  Experience Builder app (matches existing Tokyo Studio pipeline)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Alternative: CesiumJS open-source twin (more programmable, browser-native)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Trade-off: production-quality, not photoreal. LOD2 is sufficient for stakeholder map view.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Phase 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16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Source: ArcGIS Urban + CesiumJS docs; matches existing Tokyo Studio publishing pipeline.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6536148" cy="3385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 dirty="0">
                <a:solidFill>
                  <a:srgbClr val="101010"/>
                </a:solidFill>
                <a:latin typeface="Aptos"/>
              </a:rPr>
              <a:t>Phase 6.2  --  Geometric Sensor </a:t>
            </a:r>
            <a:r>
              <a:rPr lang="en-US" sz="2200" b="1" dirty="0">
                <a:solidFill>
                  <a:srgbClr val="101010"/>
                </a:solidFill>
                <a:latin typeface="Aptos"/>
              </a:rPr>
              <a:t>&amp;</a:t>
            </a:r>
            <a:r>
              <a:rPr sz="2200" b="1" dirty="0">
                <a:solidFill>
                  <a:srgbClr val="101010"/>
                </a:solidFill>
                <a:latin typeface="Aptos"/>
              </a:rPr>
              <a:t> Motion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Aptos"/>
              </a:rPr>
              <a:t>Validate the question that actually matters  --  'do the sensors see what they need to see, and does the robot fit where it needs to fit?'  --  without expensive photoreal physics. Pure geometry in Mesa.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1127455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Robot footprint  --  imported from Rhino CAD as 2D polygon with per-segment turning kinematics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Sensor coverage as 2D polygons: camera vision cones, lidar range disc, ultrasonic ring  --  Shapely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Compute coverage % per service-node approach, blind-spot risk per docking maneuver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Motion validation: turning radius, docking, peripheral-waiting, slope handling (proxied from elevation)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Acceptance: trajectories within 0.5 m of CAD-specified turning radius; coverage gaps identified per service node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What this validates: 'does the sensor placement work?'  --  the load-bearing question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010"/>
                </a:solidFill>
                <a:latin typeface="Aptos"/>
              </a:rPr>
              <a:t>•   What this does NOT validate: photoreal sensor fidelity, RL policies, real-hardware transfer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Phase 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17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Source: Mesa + Shapely approach replacing NVIDIA Isaac Sim photoreal stack.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078634" cy="3385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 dirty="0">
                <a:solidFill>
                  <a:srgbClr val="101010"/>
                </a:solidFill>
                <a:latin typeface="Aptos"/>
              </a:rPr>
              <a:t>Stretch Goal  --  NVIDIA Isaac Sim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Aptos"/>
              </a:rPr>
              <a:t>IF dedicated RTX hardware materializes, we add a single 60-90 second Isaac Sim hero video. NOT load-bearing for the research conclusions. Hard constraints below.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550011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01010"/>
                </a:solidFill>
                <a:latin typeface="Aptos"/>
              </a:rPr>
              <a:t>Hard constraints (all must be true)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2377440"/>
            <a:ext cx="2750058" cy="0"/>
          </a:xfrm>
          <a:prstGeom prst="line">
            <a:avLst/>
          </a:prstGeom>
          <a:ln w="317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2468880"/>
            <a:ext cx="5500116" cy="10515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dirty="0">
                <a:solidFill>
                  <a:srgbClr val="101010"/>
                </a:solidFill>
                <a:latin typeface="Aptos"/>
              </a:rPr>
              <a:t>•  Dedicated RTX 4080+ GPU  --  IAC-VLABB-2021 has none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101010"/>
                </a:solidFill>
                <a:latin typeface="Aptos"/>
              </a:rPr>
              <a:t>•  Windows 10/11 or Ubuntu 22/24  --  NOT Server 2019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101010"/>
                </a:solidFill>
                <a:latin typeface="Aptos"/>
              </a:rPr>
              <a:t>•  Driver Linux 580.65+ or Windows 580.88+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101010"/>
                </a:solidFill>
                <a:latin typeface="Aptos"/>
              </a:rPr>
              <a:t>•  Team learning curve for Isaac Sim (unfamiliar tool)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101010"/>
                </a:solidFill>
                <a:latin typeface="Aptos"/>
              </a:rPr>
              <a:t>•  Robot URDF export from Rhino (Xilin time)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1636" y="2057400"/>
            <a:ext cx="550011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01010"/>
                </a:solidFill>
                <a:latin typeface="Aptos"/>
              </a:rPr>
              <a:t>If unlocked  --  what we deliver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31636" y="2377440"/>
            <a:ext cx="2750058" cy="0"/>
          </a:xfrm>
          <a:prstGeom prst="line">
            <a:avLst/>
          </a:prstGeom>
          <a:ln w="317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31636" y="2468880"/>
            <a:ext cx="5500116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60-90 sec hero video: robot navigating peak-commute crowd under heat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Crude URDF (primitive boxes / cylinders)  --  not photoreal CAD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Kinematic motion validation only  --  no sensor fidelity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Visual impact for final demo; not new research evidence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Possible hosts: GT IDEaS / PACE, NVIDIA Inception, personal RTX desktop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Stretch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18 / 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Source: NVIDIA Isaac Sim system requirements + IAC-VLABB-2021 DxDiag.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Aptos"/>
              </a:rPr>
              <a:t>Data Inventory  --  What We 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Aptos"/>
              </a:rPr>
              <a:t>Seven primary layers exist today. Quality stars reflect readiness across all six phases.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112745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9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90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90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Layer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Source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Format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Heat scenarios (RF classifier)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Parent Tokyo Studio 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CSV / GeoJSON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Sam, Qinghao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Pedestrian GPS visits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Nihonbashi 2023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Yi Tai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OSM sidewalk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OSMnx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GraphML / .net.xml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Yi Tai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PLATEAU CityGML LOD1/LOD2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PLATEAU VIEW 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CityGML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Sam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Elderly pop per parcel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e-Stat + Tokyo Metro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Shapefile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Sam, Qinghao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Evacuation shelters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Tokyo Open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Sam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Starship robot specs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Public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1010"/>
                          </a:solidFill>
                          <a:latin typeface="Aptos"/>
                        </a:rPr>
                        <a:t>Yi Tai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Data: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19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Source: data/README.md + parent Tokyo Studio inventory.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Aptos"/>
              </a:rPr>
              <a:t>Data Gaps  --  What We Need to Acquire or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Aptos"/>
              </a:rPr>
              <a:t>Critical gaps block specific phases. Should-have gaps lift fidelity but are not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550011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01010"/>
                </a:solidFill>
                <a:latin typeface="Aptos"/>
              </a:rPr>
              <a:t>Critical (block downstream phases)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2377440"/>
            <a:ext cx="2750058" cy="0"/>
          </a:xfrm>
          <a:prstGeom prst="line">
            <a:avLst/>
          </a:prstGeom>
          <a:ln w="317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2468880"/>
            <a:ext cx="5500116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1. Weather forecast (6-48 hr) for proactive dispatch  --  Phase 1-3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2. Tokyo Fire Dept heatstroke transport data  --  vulnerable-pop modeling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3. METI 2023 sidewalk-robot regulation  --  design constraint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4. Pedestrian behavior under heat (GPS by temp bin)  --  Phase 3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5. Per-segment sidewalk widths  --  Phase 3, Phase 6.2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6. PLATEAU LOD2 catchment USD/glTF tiles  --  Phase 6.1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7. Robot CAD source from Rhino  --  Phase 5, Phase 6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8. Sensor specs (FOV, lidar range, ultrasonic placement)  --  Phase 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1636" y="2057400"/>
            <a:ext cx="550011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01010"/>
                </a:solidFill>
                <a:latin typeface="Aptos"/>
              </a:rPr>
              <a:t>Should have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31636" y="2377440"/>
            <a:ext cx="2750058" cy="0"/>
          </a:xfrm>
          <a:prstGeom prst="line">
            <a:avLst/>
          </a:prstGeom>
          <a:ln w="317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31636" y="2468880"/>
            <a:ext cx="5500116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9. e-Stat 6th mesh (125 m) demographic resolution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10. WBGT  &lt;-&gt;  NWS Heat Index reconciliation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11. Vulnerable-pop dwell-time map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12. Nihonbashi service-node inventory (CVS, vending, toilets, transit exits)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13. Japanese-language signage overlay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14. Pre-rendered Blender hero shots for slides + video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15. (Stretch only) Photoreal CAD for Isaac Sim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Data: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20 / 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Source: team M&amp;V triage; methodology PDF Phase One data layer.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Aptos"/>
              </a:rPr>
              <a:t>Tooling Stack and Team / RACI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01010"/>
                </a:solidFill>
                <a:latin typeface="Aptos"/>
              </a:rPr>
              <a:t>Every tool is free, educational, or already GT-licensed. Four contributors, async-first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550011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01010"/>
                </a:solidFill>
                <a:latin typeface="Aptos"/>
              </a:rPr>
              <a:t>Tooling by phase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2377440"/>
            <a:ext cx="2750058" cy="0"/>
          </a:xfrm>
          <a:prstGeom prst="line">
            <a:avLst/>
          </a:prstGeom>
          <a:ln w="317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2468880"/>
            <a:ext cx="5500116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Phases 1, 3, 5  --  Python · Mesa · SUMO · GeoPandas · scikit-learn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Phase 2  --  team review + AI assist for concept expansion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Phase 4  --  Rhino + Grasshopper · Fusion 360 (edu) · Blender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Phase 6.1  --  ArcGIS Urban · Experience Builder · CesiumJS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Phase 6.2  --  Mesa + Shapely · GeoPandas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Hosting  --  Flask · Streamlit · ArcGIS Online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Stretch  --  NVIDIA Isaac Sim (conditional)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1636" y="2057400"/>
            <a:ext cx="550011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01010"/>
                </a:solidFill>
                <a:latin typeface="Aptos"/>
              </a:rPr>
              <a:t>Team and RACI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31636" y="2377440"/>
            <a:ext cx="2750058" cy="0"/>
          </a:xfrm>
          <a:prstGeom prst="line">
            <a:avLst/>
          </a:prstGeom>
          <a:ln w="317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31636" y="2468880"/>
            <a:ext cx="5500116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Sam (M&amp;V lead): R/A for data, GIS, twin, server orchestration, slides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Xilin (Design lead): R/A for Phase 2 concept, Phase 4 CAD, materials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Yi Tai (ABM lead): R/A for Phases 1, 3, 5 simulation + metrics + Phase 6.2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Qinghao (Domain): C for heat-risk, thermal validation, vulnerable-pop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01010"/>
                </a:solidFill>
                <a:latin typeface="Aptos"/>
              </a:rPr>
              <a:t>•  Advisor: I on all workstreams; sign-off on milestone reviews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63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0" y="320040"/>
            <a:ext cx="1673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  <a:latin typeface="Aptos"/>
              </a:rPr>
              <a:t>Tooling +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B0B0B0"/>
                </a:solidFill>
                <a:latin typeface="Aptos"/>
              </a:rPr>
              <a:t>22 / 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B0B0B0"/>
                </a:solidFill>
                <a:latin typeface="Aptos"/>
              </a:rPr>
              <a:t>Source: existing GT software inventory; CONTRIBUTING.md ownership map.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3257</Words>
  <Application>Microsoft Office PowerPoint</Application>
  <PresentationFormat>Custom</PresentationFormat>
  <Paragraphs>367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Duong, Quan</cp:lastModifiedBy>
  <cp:revision>4</cp:revision>
  <dcterms:created xsi:type="dcterms:W3CDTF">2013-01-27T09:14:16Z</dcterms:created>
  <dcterms:modified xsi:type="dcterms:W3CDTF">2026-05-19T15:27:04Z</dcterms:modified>
  <cp:category/>
</cp:coreProperties>
</file>